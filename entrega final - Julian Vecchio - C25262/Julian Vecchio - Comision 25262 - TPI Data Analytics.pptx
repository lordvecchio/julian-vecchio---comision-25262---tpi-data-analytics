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5bed9449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5bed9449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bed94493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bed94493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bed94493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bed94493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bed94493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bed94493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bed94493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bed94493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Entrega Final Julián Vecchio</a:t>
            </a:r>
            <a:endParaRPr/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598100" y="26140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Comisión</a:t>
            </a:r>
            <a:r>
              <a:rPr lang="es-419"/>
              <a:t> 25262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Rendimiento de Ventas: Balance y Oportunidades</a:t>
            </a:r>
            <a:endParaRPr b="1"/>
          </a:p>
        </p:txBody>
      </p:sp>
      <p:sp>
        <p:nvSpPr>
          <p:cNvPr id="92" name="Google Shape;92;p14"/>
          <p:cNvSpPr txBox="1"/>
          <p:nvPr/>
        </p:nvSpPr>
        <p:spPr>
          <a:xfrm>
            <a:off x="6361000" y="1089825"/>
            <a:ext cx="26811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VENTAS TOTALES:</a:t>
            </a:r>
            <a:r>
              <a:rPr lang="es-419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1.47 millones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4242" l="0" r="0" t="0"/>
          <a:stretch/>
        </p:blipFill>
        <p:spPr>
          <a:xfrm>
            <a:off x="382975" y="1017803"/>
            <a:ext cx="5978024" cy="397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6771375" y="1188750"/>
            <a:ext cx="20610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Crecimiento Constante con picos mensuales claros.</a:t>
            </a:r>
            <a:endParaRPr/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Evolución del Mercado y Efectividad del Gasto</a:t>
            </a:r>
            <a:endParaRPr b="1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25" y="1017800"/>
            <a:ext cx="6610150" cy="32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5362375" y="1144300"/>
            <a:ext cx="3469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/>
              <a:t>Precio vs. Cantidad: </a:t>
            </a:r>
            <a:br>
              <a:rPr lang="es-419"/>
            </a:br>
            <a:r>
              <a:rPr lang="es-419"/>
              <a:t>Fuerte relación Negativa (Coeficiente cercano a $-0.X$)</a:t>
            </a:r>
            <a:br>
              <a:rPr lang="es-419"/>
            </a:br>
            <a:r>
              <a:rPr b="1" lang="es-419"/>
              <a:t>Precio vs. Ventas Totales:</a:t>
            </a:r>
            <a:br>
              <a:rPr b="1" lang="es-419"/>
            </a:br>
            <a:r>
              <a:rPr lang="es-419"/>
              <a:t>Fuerte relación Positiva (Coeficiente cercano a $+1.00$).</a:t>
            </a:r>
            <a:endParaRPr/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Análisis de Correlación: Precio vs. Demanda</a:t>
            </a:r>
            <a:endParaRPr b="1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50" y="904925"/>
            <a:ext cx="4325651" cy="38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Foco Geográfico: </a:t>
            </a:r>
            <a:r>
              <a:rPr lang="es-419"/>
              <a:t>Resistencia, Santa Fe y Mar del Plata contienen la mayor concentración de Clientes de Alto Valor (Ingresos $&gt;\$50K$)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100"/>
              <a:t>Recomendaciones</a:t>
            </a:r>
            <a:br>
              <a:rPr lang="es-419" sz="2100"/>
            </a:br>
            <a:r>
              <a:rPr b="1" lang="es-419"/>
              <a:t>Micro-segmentación: </a:t>
            </a:r>
            <a:r>
              <a:rPr lang="es-419"/>
              <a:t>Dirigir campañas premium (personalizadas) a las ciudades top.</a:t>
            </a:r>
            <a:br>
              <a:rPr lang="es-419"/>
            </a:br>
            <a:r>
              <a:rPr b="1" lang="es-419"/>
              <a:t>Optimizar Marketing:</a:t>
            </a:r>
            <a:r>
              <a:rPr lang="es-419"/>
              <a:t> Reasignar el presupuesto de marketing de los productos de bajo retorno (identificados en el gráfico de Plotly) a los productos más rentables (los de mayor precio/margen)</a:t>
            </a:r>
            <a:endParaRPr/>
          </a:p>
        </p:txBody>
      </p:sp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Estrategia de Crecimiento: Foco en Clientes de Alto Valor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Pregunta para guiar la nueva campaña</a:t>
            </a:r>
            <a:endParaRPr b="1"/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1708400"/>
            <a:ext cx="8238000" cy="1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impulsamos la Decoración y Electrónica para alcanzar el rendimiento de Electrodomésticos?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